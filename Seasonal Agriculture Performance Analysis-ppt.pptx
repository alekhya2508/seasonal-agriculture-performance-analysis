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Trebuchet MS" charset="1" panose="020B0603020202020204"/>
      <p:regular r:id="rId23"/>
    </p:embeddedFont>
    <p:embeddedFont>
      <p:font typeface="Trebuchet MS Bold" charset="1" panose="020B0703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https://github.com/Alekhya2508/Seasonal-Agriculture-Performance-Analysis.git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10463" y="2074212"/>
            <a:ext cx="1844345" cy="1589961"/>
            <a:chOff x="0" y="0"/>
            <a:chExt cx="2459126" cy="21199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59101" cy="2119884"/>
            </a:xfrm>
            <a:custGeom>
              <a:avLst/>
              <a:gdLst/>
              <a:ahLst/>
              <a:cxnLst/>
              <a:rect r="r" b="b" t="t" l="l"/>
              <a:pathLst>
                <a:path h="2119884" w="2459101">
                  <a:moveTo>
                    <a:pt x="0" y="1059942"/>
                  </a:moveTo>
                  <a:lnTo>
                    <a:pt x="529971" y="0"/>
                  </a:lnTo>
                  <a:lnTo>
                    <a:pt x="1929130" y="0"/>
                  </a:lnTo>
                  <a:lnTo>
                    <a:pt x="2459101" y="1059942"/>
                  </a:lnTo>
                  <a:lnTo>
                    <a:pt x="1929130" y="2119884"/>
                  </a:lnTo>
                  <a:lnTo>
                    <a:pt x="529971" y="2119884"/>
                  </a:lnTo>
                  <a:close/>
                </a:path>
              </a:pathLst>
            </a:custGeom>
            <a:solidFill>
              <a:srgbClr val="5FCBE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632542" y="1791929"/>
            <a:ext cx="2499246" cy="2154517"/>
            <a:chOff x="0" y="0"/>
            <a:chExt cx="3332328" cy="287268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32353" cy="2872740"/>
            </a:xfrm>
            <a:custGeom>
              <a:avLst/>
              <a:gdLst/>
              <a:ahLst/>
              <a:cxnLst/>
              <a:rect r="r" b="b" t="t" l="l"/>
              <a:pathLst>
                <a:path h="2872740" w="3332353">
                  <a:moveTo>
                    <a:pt x="0" y="1436370"/>
                  </a:moveTo>
                  <a:lnTo>
                    <a:pt x="718185" y="0"/>
                  </a:lnTo>
                  <a:lnTo>
                    <a:pt x="2614168" y="0"/>
                  </a:lnTo>
                  <a:lnTo>
                    <a:pt x="3332353" y="1436370"/>
                  </a:lnTo>
                  <a:lnTo>
                    <a:pt x="2614168" y="2872740"/>
                  </a:lnTo>
                  <a:lnTo>
                    <a:pt x="718185" y="2872740"/>
                  </a:lnTo>
                  <a:close/>
                </a:path>
              </a:pathLst>
            </a:custGeom>
            <a:solidFill>
              <a:srgbClr val="42D0A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696083" y="7835898"/>
            <a:ext cx="1077392" cy="928783"/>
            <a:chOff x="0" y="0"/>
            <a:chExt cx="1436522" cy="123837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36497" cy="1238377"/>
            </a:xfrm>
            <a:custGeom>
              <a:avLst/>
              <a:gdLst/>
              <a:ahLst/>
              <a:cxnLst/>
              <a:rect r="r" b="b" t="t" l="l"/>
              <a:pathLst>
                <a:path h="1238377" w="1436497">
                  <a:moveTo>
                    <a:pt x="0" y="619252"/>
                  </a:moveTo>
                  <a:lnTo>
                    <a:pt x="309626" y="0"/>
                  </a:lnTo>
                  <a:lnTo>
                    <a:pt x="1126871" y="0"/>
                  </a:lnTo>
                  <a:lnTo>
                    <a:pt x="1436497" y="619252"/>
                  </a:lnTo>
                  <a:lnTo>
                    <a:pt x="1126871" y="1238377"/>
                  </a:lnTo>
                  <a:lnTo>
                    <a:pt x="309626" y="1238377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756754" y="1651959"/>
            <a:ext cx="977417" cy="842601"/>
            <a:chOff x="0" y="0"/>
            <a:chExt cx="1303223" cy="112346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03274" cy="1123442"/>
            </a:xfrm>
            <a:custGeom>
              <a:avLst/>
              <a:gdLst/>
              <a:ahLst/>
              <a:cxnLst/>
              <a:rect r="r" b="b" t="t" l="l"/>
              <a:pathLst>
                <a:path h="1123442" w="1303274">
                  <a:moveTo>
                    <a:pt x="0" y="561721"/>
                  </a:moveTo>
                  <a:lnTo>
                    <a:pt x="280924" y="0"/>
                  </a:lnTo>
                  <a:lnTo>
                    <a:pt x="1022350" y="0"/>
                  </a:lnTo>
                  <a:lnTo>
                    <a:pt x="1303274" y="561721"/>
                  </a:lnTo>
                  <a:lnTo>
                    <a:pt x="1022350" y="1123442"/>
                  </a:lnTo>
                  <a:lnTo>
                    <a:pt x="280924" y="1123442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8986" y="4303319"/>
            <a:ext cx="7315200" cy="103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751F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-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241555" y="7705725"/>
            <a:ext cx="458165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AICTE STU ID :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254390" y="4447736"/>
            <a:ext cx="898038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9"/>
              </a:lnSpc>
              <a:spcBef>
                <a:spcPct val="0"/>
              </a:spcBef>
            </a:pPr>
            <a:r>
              <a:rPr lang="en-US" sz="37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Seasonal Agriculture Performance Analysis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1555" y="6259211"/>
            <a:ext cx="491053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sz="33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Name: Alekhya Allatipalli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896816" y="7696200"/>
            <a:ext cx="524718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sz="30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STU69df4d8150f3</a:t>
            </a:r>
            <a:r>
              <a:rPr lang="en-US" sz="30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e1776242049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41555" y="6974872"/>
            <a:ext cx="1008409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sz="30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College Name: Shri Vishnu Engineering College for Women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405162" y="8045977"/>
            <a:ext cx="312325" cy="312325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29372" y="631536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90590" y="554769"/>
            <a:ext cx="10310527" cy="110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b="true" sz="6480">
                <a:solidFill>
                  <a:srgbClr val="FF751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PROBLEM  STATEMENT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4276013" y="5272554"/>
            <a:ext cx="4141137" cy="4896612"/>
            <a:chOff x="0" y="0"/>
            <a:chExt cx="5521516" cy="65288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21579" cy="6528816"/>
            </a:xfrm>
            <a:custGeom>
              <a:avLst/>
              <a:gdLst/>
              <a:ahLst/>
              <a:cxnLst/>
              <a:rect r="r" b="b" t="t" l="l"/>
              <a:pathLst>
                <a:path h="6528816" w="5521579">
                  <a:moveTo>
                    <a:pt x="0" y="0"/>
                  </a:moveTo>
                  <a:lnTo>
                    <a:pt x="5521579" y="0"/>
                  </a:lnTo>
                  <a:lnTo>
                    <a:pt x="5521579" y="6528816"/>
                  </a:lnTo>
                  <a:lnTo>
                    <a:pt x="0" y="6528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18486" r="-135857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223343" y="2500779"/>
            <a:ext cx="1569273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sz="30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Agricultural activities are influenced by seasonal variations in environmental conditions,</a:t>
            </a:r>
          </a:p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sz="30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farming practices, resource availability, and market conditions.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23343" y="3653304"/>
            <a:ext cx="1363245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sz="30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As a result, agricultural performance may differ from one season to another.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73103" y="4348629"/>
            <a:ext cx="162306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Raw agricultural data does not clearly explain how agricultural performance changes across seasons.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23343" y="5299991"/>
            <a:ext cx="1286281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It is important to identify patterns, trends, relationships, and variations</a:t>
            </a:r>
          </a:p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in different seasonal conditions.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23343" y="6452516"/>
            <a:ext cx="14391184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This project analyzes the agricultural dataset to investigate seasonal differences</a:t>
            </a:r>
          </a:p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in agricultural performance.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69182" y="7579252"/>
            <a:ext cx="1345549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The analysis aims to provide meaningful insights from the available agricultural data.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918881" y="788889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489747" y="326521"/>
            <a:ext cx="9231287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b="true" sz="6480">
                <a:solidFill>
                  <a:srgbClr val="FF751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Project Description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01040" y="9615688"/>
            <a:ext cx="5559381" cy="444141"/>
            <a:chOff x="0" y="0"/>
            <a:chExt cx="7412507" cy="5921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412482" cy="592201"/>
            </a:xfrm>
            <a:custGeom>
              <a:avLst/>
              <a:gdLst/>
              <a:ahLst/>
              <a:cxnLst/>
              <a:rect r="r" b="b" t="t" l="l"/>
              <a:pathLst>
                <a:path h="592201" w="7412482">
                  <a:moveTo>
                    <a:pt x="0" y="0"/>
                  </a:moveTo>
                  <a:lnTo>
                    <a:pt x="7412482" y="0"/>
                  </a:lnTo>
                  <a:lnTo>
                    <a:pt x="7412482" y="592201"/>
                  </a:lnTo>
                  <a:lnTo>
                    <a:pt x="0" y="592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427326" y="1827792"/>
            <a:ext cx="1287432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sz="30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This project analyzes agricultural performance across different seasons.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02032" y="2643351"/>
            <a:ext cx="1297255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Studies the effect of environmental conditions and farming practices on </a:t>
            </a:r>
          </a:p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agricultural performance.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70031" y="3916110"/>
            <a:ext cx="1279664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Examines crop production, resource usage, and economic performance.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70031" y="4670427"/>
            <a:ext cx="1353879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Compares agricultural performance across different seasons and conditions.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70031" y="5404114"/>
            <a:ext cx="1222960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Identifies patterns, trends, relationships, and variations in the data.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02032" y="6356614"/>
            <a:ext cx="1488072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Uses data analysis and visualization techniques to understand the agricultural data.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70031" y="7309114"/>
            <a:ext cx="1192728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Provides meaningful insights and data-driven recommendations for</a:t>
            </a:r>
          </a:p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better seasonal agricultural planning.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968192" y="393602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82040" y="9265206"/>
            <a:ext cx="3271838" cy="728662"/>
            <a:chOff x="0" y="0"/>
            <a:chExt cx="4362450" cy="9715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62450" cy="971550"/>
            </a:xfrm>
            <a:custGeom>
              <a:avLst/>
              <a:gdLst/>
              <a:ahLst/>
              <a:cxnLst/>
              <a:rect r="r" b="b" t="t" l="l"/>
              <a:pathLst>
                <a:path h="971550" w="4362450">
                  <a:moveTo>
                    <a:pt x="0" y="0"/>
                  </a:moveTo>
                  <a:lnTo>
                    <a:pt x="4362450" y="0"/>
                  </a:lnTo>
                  <a:lnTo>
                    <a:pt x="436245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-5040394" y="623887"/>
            <a:ext cx="1488622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  <a:spcBef>
                <a:spcPct val="0"/>
              </a:spcBef>
            </a:pPr>
            <a:r>
              <a:rPr lang="en-US" b="true" sz="5199">
                <a:solidFill>
                  <a:srgbClr val="FF751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End Users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51056" y="1930708"/>
            <a:ext cx="1464141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Farmers – To understand seasonal crop performance and improve farming decisions.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1056" y="2902258"/>
            <a:ext cx="1255275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Agricultural Planners – To support better seasonal agricultural planning.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1056" y="3952875"/>
            <a:ext cx="1395918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Agricultural Researchers – To study seasonal patterns, trends, and relationships.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51056" y="4899027"/>
            <a:ext cx="1583828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Agriculture Departments – To understand regional and seasonal agricultural performance.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3858" y="5842002"/>
            <a:ext cx="1449347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Resource Managers – To analyze resource usage such as water and farming inputs.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0590" y="6710627"/>
            <a:ext cx="162306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Agribusiness Stakeholders – To understand production and economic performance across seasons.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044238" y="664893"/>
            <a:ext cx="542925" cy="542925"/>
            <a:chOff x="0" y="0"/>
            <a:chExt cx="723900" cy="7239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361950"/>
                  </a:moveTo>
                  <a:cubicBezTo>
                    <a:pt x="0" y="162052"/>
                    <a:pt x="162052" y="0"/>
                    <a:pt x="361950" y="0"/>
                  </a:cubicBezTo>
                  <a:cubicBezTo>
                    <a:pt x="561848" y="0"/>
                    <a:pt x="723900" y="162052"/>
                    <a:pt x="723900" y="361950"/>
                  </a:cubicBezTo>
                  <a:cubicBezTo>
                    <a:pt x="723900" y="561848"/>
                    <a:pt x="561848" y="723900"/>
                    <a:pt x="361950" y="723900"/>
                  </a:cubicBezTo>
                  <a:cubicBezTo>
                    <a:pt x="162052" y="723900"/>
                    <a:pt x="0" y="561848"/>
                    <a:pt x="0" y="36195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510873" y="8408994"/>
            <a:ext cx="981342" cy="981342"/>
            <a:chOff x="0" y="0"/>
            <a:chExt cx="1308456" cy="13084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08354" cy="1308354"/>
            </a:xfrm>
            <a:custGeom>
              <a:avLst/>
              <a:gdLst/>
              <a:ahLst/>
              <a:cxnLst/>
              <a:rect r="r" b="b" t="t" l="l"/>
              <a:pathLst>
                <a:path h="1308354" w="1308354">
                  <a:moveTo>
                    <a:pt x="0" y="654177"/>
                  </a:moveTo>
                  <a:cubicBezTo>
                    <a:pt x="0" y="292862"/>
                    <a:pt x="292862" y="0"/>
                    <a:pt x="654177" y="0"/>
                  </a:cubicBezTo>
                  <a:cubicBezTo>
                    <a:pt x="1015492" y="0"/>
                    <a:pt x="1308354" y="292862"/>
                    <a:pt x="1308354" y="654177"/>
                  </a:cubicBezTo>
                  <a:cubicBezTo>
                    <a:pt x="1308354" y="1015492"/>
                    <a:pt x="1015492" y="1308354"/>
                    <a:pt x="654177" y="1308354"/>
                  </a:cubicBezTo>
                  <a:cubicBezTo>
                    <a:pt x="292862" y="1308354"/>
                    <a:pt x="0" y="1015492"/>
                    <a:pt x="0" y="654177"/>
                  </a:cubicBez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025689" y="9198654"/>
            <a:ext cx="376723" cy="376723"/>
            <a:chOff x="0" y="0"/>
            <a:chExt cx="502298" cy="50229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2285" cy="502285"/>
            </a:xfrm>
            <a:custGeom>
              <a:avLst/>
              <a:gdLst/>
              <a:ahLst/>
              <a:cxnLst/>
              <a:rect r="r" b="b" t="t" l="l"/>
              <a:pathLst>
                <a:path h="502285" w="502285">
                  <a:moveTo>
                    <a:pt x="0" y="251206"/>
                  </a:moveTo>
                  <a:cubicBezTo>
                    <a:pt x="0" y="112395"/>
                    <a:pt x="112395" y="0"/>
                    <a:pt x="251206" y="0"/>
                  </a:cubicBezTo>
                  <a:cubicBezTo>
                    <a:pt x="390017" y="0"/>
                    <a:pt x="502285" y="112395"/>
                    <a:pt x="502285" y="251206"/>
                  </a:cubicBezTo>
                  <a:cubicBezTo>
                    <a:pt x="502285" y="390017"/>
                    <a:pt x="389890" y="502285"/>
                    <a:pt x="251206" y="502285"/>
                  </a:cubicBezTo>
                  <a:cubicBezTo>
                    <a:pt x="112522" y="502285"/>
                    <a:pt x="0" y="389890"/>
                    <a:pt x="0" y="251206"/>
                  </a:cubicBez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01040" y="9615688"/>
            <a:ext cx="5559381" cy="444141"/>
            <a:chOff x="0" y="0"/>
            <a:chExt cx="7412507" cy="5921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12482" cy="592201"/>
            </a:xfrm>
            <a:custGeom>
              <a:avLst/>
              <a:gdLst/>
              <a:ahLst/>
              <a:cxnLst/>
              <a:rect r="r" b="b" t="t" l="l"/>
              <a:pathLst>
                <a:path h="592201" w="7412482">
                  <a:moveTo>
                    <a:pt x="0" y="0"/>
                  </a:moveTo>
                  <a:lnTo>
                    <a:pt x="7412482" y="0"/>
                  </a:lnTo>
                  <a:lnTo>
                    <a:pt x="7412482" y="592201"/>
                  </a:lnTo>
                  <a:lnTo>
                    <a:pt x="0" y="592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755781" y="3893953"/>
            <a:ext cx="2590800" cy="4515040"/>
            <a:chOff x="0" y="0"/>
            <a:chExt cx="3454400" cy="6020054"/>
          </a:xfrm>
        </p:grpSpPr>
        <p:sp>
          <p:nvSpPr>
            <p:cNvPr name="Freeform 38" id="38"/>
            <p:cNvSpPr/>
            <p:nvPr/>
          </p:nvSpPr>
          <p:spPr>
            <a:xfrm flipH="true" flipV="false" rot="0">
              <a:off x="0" y="0"/>
              <a:ext cx="3454400" cy="6020054"/>
            </a:xfrm>
            <a:custGeom>
              <a:avLst/>
              <a:gdLst/>
              <a:ahLst/>
              <a:cxnLst/>
              <a:rect r="r" b="b" t="t" l="l"/>
              <a:pathLst>
                <a:path h="6020054" w="3454400">
                  <a:moveTo>
                    <a:pt x="3454400" y="0"/>
                  </a:moveTo>
                  <a:lnTo>
                    <a:pt x="0" y="0"/>
                  </a:lnTo>
                  <a:lnTo>
                    <a:pt x="0" y="6020054"/>
                  </a:lnTo>
                  <a:lnTo>
                    <a:pt x="3454400" y="6020054"/>
                  </a:lnTo>
                  <a:lnTo>
                    <a:pt x="3454400" y="0"/>
                  </a:lnTo>
                  <a:close/>
                </a:path>
              </a:pathLst>
            </a:custGeom>
            <a:blipFill>
              <a:blip r:embed="rId5"/>
              <a:stretch>
                <a:fillRect l="-5923" t="0" r="-5922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82040" y="672522"/>
            <a:ext cx="7776553" cy="11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7200">
                <a:solidFill>
                  <a:srgbClr val="FF751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Technology Used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960118" y="2277543"/>
            <a:ext cx="1077853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Python – Main programming language used for data analysis.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60118" y="3153843"/>
            <a:ext cx="1234509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Pandas – Used for data loading, cleaning, manipulation, and analysis.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960118" y="4105275"/>
            <a:ext cx="1020316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NumPy – Used for numerical operations and calculations.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960118" y="5048237"/>
            <a:ext cx="1041995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Matplotlib – Used to create data visualizations and charts.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60118" y="5924537"/>
            <a:ext cx="993159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Seaborn – Used to create statistical plots and advanced</a:t>
            </a:r>
          </a:p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visualizations.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960118" y="7229475"/>
            <a:ext cx="1154023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Google Colab – Used as the working environment for performing </a:t>
            </a:r>
          </a:p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and documenting the analysis.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057238" y="9430245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743038" y="93497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58733" y="968129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660088" y="1863124"/>
            <a:ext cx="8031535" cy="5972775"/>
          </a:xfrm>
          <a:custGeom>
            <a:avLst/>
            <a:gdLst/>
            <a:ahLst/>
            <a:cxnLst/>
            <a:rect r="r" b="b" t="t" l="l"/>
            <a:pathLst>
              <a:path h="5972775" w="8031535">
                <a:moveTo>
                  <a:pt x="0" y="0"/>
                </a:moveTo>
                <a:lnTo>
                  <a:pt x="8031535" y="0"/>
                </a:lnTo>
                <a:lnTo>
                  <a:pt x="8031535" y="5972774"/>
                </a:lnTo>
                <a:lnTo>
                  <a:pt x="0" y="59727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0374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425799" y="1863124"/>
            <a:ext cx="7564408" cy="5972775"/>
          </a:xfrm>
          <a:custGeom>
            <a:avLst/>
            <a:gdLst/>
            <a:ahLst/>
            <a:cxnLst/>
            <a:rect r="r" b="b" t="t" l="l"/>
            <a:pathLst>
              <a:path h="5972775" w="7564408">
                <a:moveTo>
                  <a:pt x="0" y="0"/>
                </a:moveTo>
                <a:lnTo>
                  <a:pt x="7564408" y="0"/>
                </a:lnTo>
                <a:lnTo>
                  <a:pt x="7564408" y="5972774"/>
                </a:lnTo>
                <a:lnTo>
                  <a:pt x="0" y="59727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2357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336552" y="314258"/>
            <a:ext cx="3863479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7000">
                <a:solidFill>
                  <a:srgbClr val="FF751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74762" y="8369827"/>
            <a:ext cx="7565728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These libraries provide the basic tools required to explore,</a:t>
            </a:r>
          </a:p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analyze, and visualize the agricultural data.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48926" y="8340178"/>
            <a:ext cx="6194326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The agricultural dataset is loaded into Python </a:t>
            </a:r>
          </a:p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using Pandas for further analysis.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055603" y="3367155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130766" y="788889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990590" y="2045772"/>
            <a:ext cx="5558216" cy="6107628"/>
          </a:xfrm>
          <a:custGeom>
            <a:avLst/>
            <a:gdLst/>
            <a:ahLst/>
            <a:cxnLst/>
            <a:rect r="r" b="b" t="t" l="l"/>
            <a:pathLst>
              <a:path h="6107628" w="5558216">
                <a:moveTo>
                  <a:pt x="0" y="0"/>
                </a:moveTo>
                <a:lnTo>
                  <a:pt x="5558217" y="0"/>
                </a:lnTo>
                <a:lnTo>
                  <a:pt x="5558217" y="6107628"/>
                </a:lnTo>
                <a:lnTo>
                  <a:pt x="0" y="6107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862052" y="2068595"/>
            <a:ext cx="8165675" cy="5863082"/>
          </a:xfrm>
          <a:custGeom>
            <a:avLst/>
            <a:gdLst/>
            <a:ahLst/>
            <a:cxnLst/>
            <a:rect r="r" b="b" t="t" l="l"/>
            <a:pathLst>
              <a:path h="5863082" w="8165675">
                <a:moveTo>
                  <a:pt x="0" y="0"/>
                </a:moveTo>
                <a:lnTo>
                  <a:pt x="8165675" y="0"/>
                </a:lnTo>
                <a:lnTo>
                  <a:pt x="8165675" y="5863082"/>
                </a:lnTo>
                <a:lnTo>
                  <a:pt x="0" y="58630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105376" y="582549"/>
            <a:ext cx="397381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FF751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36552" y="8629650"/>
            <a:ext cx="718085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• info() shows the dataset structure, shape shows its size, and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dtypes shows the data types of each column.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340490" y="8629650"/>
            <a:ext cx="838497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Missing values were identified and analyzed to understand their extent 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and pattern before applying suitable treatment.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85347" y="5666894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994647" y="994410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209622" y="1999354"/>
            <a:ext cx="9781941" cy="5839593"/>
          </a:xfrm>
          <a:custGeom>
            <a:avLst/>
            <a:gdLst/>
            <a:ahLst/>
            <a:cxnLst/>
            <a:rect r="r" b="b" t="t" l="l"/>
            <a:pathLst>
              <a:path h="5839593" w="9781941">
                <a:moveTo>
                  <a:pt x="0" y="0"/>
                </a:moveTo>
                <a:lnTo>
                  <a:pt x="9781941" y="0"/>
                </a:lnTo>
                <a:lnTo>
                  <a:pt x="9781941" y="5839593"/>
                </a:lnTo>
                <a:lnTo>
                  <a:pt x="0" y="5839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390" r="-14719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0278999" y="1999354"/>
            <a:ext cx="7724200" cy="5836545"/>
          </a:xfrm>
          <a:custGeom>
            <a:avLst/>
            <a:gdLst/>
            <a:ahLst/>
            <a:cxnLst/>
            <a:rect r="r" b="b" t="t" l="l"/>
            <a:pathLst>
              <a:path h="5836545" w="7724200">
                <a:moveTo>
                  <a:pt x="0" y="0"/>
                </a:moveTo>
                <a:lnTo>
                  <a:pt x="7724200" y="0"/>
                </a:lnTo>
                <a:lnTo>
                  <a:pt x="7724200" y="5836544"/>
                </a:lnTo>
                <a:lnTo>
                  <a:pt x="0" y="58365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365145" y="476250"/>
            <a:ext cx="3863479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7000">
                <a:solidFill>
                  <a:srgbClr val="FF751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73103" y="8505344"/>
            <a:ext cx="821561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Missing values were handled using median imputation for the affected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numerical columns, followed by verification to ensure the missing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values were removed.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704677" y="8522760"/>
            <a:ext cx="719395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• Duplicate records were checked and removed to ensure that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repeated data does not affect the accuracy of the analysis.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85347" y="5666894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994647" y="994410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305725" y="495300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-406388" y="1825570"/>
            <a:ext cx="5660778" cy="6010328"/>
          </a:xfrm>
          <a:custGeom>
            <a:avLst/>
            <a:gdLst/>
            <a:ahLst/>
            <a:cxnLst/>
            <a:rect r="r" b="b" t="t" l="l"/>
            <a:pathLst>
              <a:path h="6010328" w="5660778">
                <a:moveTo>
                  <a:pt x="0" y="0"/>
                </a:moveTo>
                <a:lnTo>
                  <a:pt x="5660778" y="0"/>
                </a:lnTo>
                <a:lnTo>
                  <a:pt x="5660778" y="6010328"/>
                </a:lnTo>
                <a:lnTo>
                  <a:pt x="0" y="6010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775594" y="1562100"/>
            <a:ext cx="5488548" cy="6026830"/>
          </a:xfrm>
          <a:custGeom>
            <a:avLst/>
            <a:gdLst/>
            <a:ahLst/>
            <a:cxnLst/>
            <a:rect r="r" b="b" t="t" l="l"/>
            <a:pathLst>
              <a:path h="6026830" w="5488548">
                <a:moveTo>
                  <a:pt x="0" y="0"/>
                </a:moveTo>
                <a:lnTo>
                  <a:pt x="5488549" y="0"/>
                </a:lnTo>
                <a:lnTo>
                  <a:pt x="5488549" y="6026830"/>
                </a:lnTo>
                <a:lnTo>
                  <a:pt x="0" y="6026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1788018" y="1562100"/>
            <a:ext cx="5667130" cy="5958009"/>
          </a:xfrm>
          <a:custGeom>
            <a:avLst/>
            <a:gdLst/>
            <a:ahLst/>
            <a:cxnLst/>
            <a:rect r="r" b="b" t="t" l="l"/>
            <a:pathLst>
              <a:path h="5958009" w="5667130">
                <a:moveTo>
                  <a:pt x="0" y="0"/>
                </a:moveTo>
                <a:lnTo>
                  <a:pt x="5667130" y="0"/>
                </a:lnTo>
                <a:lnTo>
                  <a:pt x="5667130" y="5958009"/>
                </a:lnTo>
                <a:lnTo>
                  <a:pt x="0" y="59580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365145" y="476250"/>
            <a:ext cx="3863479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7000">
                <a:solidFill>
                  <a:srgbClr val="FF751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71236" y="8391044"/>
            <a:ext cx="596235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sz="19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Identifies unusual or extreme values in the dataset.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71236" y="8972069"/>
            <a:ext cx="668615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  <a:spcBef>
                <a:spcPct val="0"/>
              </a:spcBef>
            </a:pPr>
            <a:r>
              <a:rPr lang="en-US" sz="16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Potential outliers were reviewed rather than automatically removed,</a:t>
            </a:r>
          </a:p>
          <a:p>
            <a:pPr algn="ctr">
              <a:lnSpc>
                <a:spcPts val="1980"/>
              </a:lnSpc>
              <a:spcBef>
                <a:spcPct val="0"/>
              </a:spcBef>
            </a:pPr>
            <a:r>
              <a:rPr lang="en-US" sz="16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as they may represent genuine agricultural conditions.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7751428" y="-12697"/>
            <a:ext cx="4511021" cy="10299697"/>
            <a:chOff x="0" y="0"/>
            <a:chExt cx="6014695" cy="137329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166671" y="601599"/>
            <a:ext cx="685800" cy="685800"/>
            <a:chOff x="0" y="0"/>
            <a:chExt cx="91440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761517" y="1134999"/>
            <a:ext cx="269967" cy="269967"/>
            <a:chOff x="0" y="0"/>
            <a:chExt cx="359956" cy="3599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673103" y="1869441"/>
            <a:ext cx="5786865" cy="5966458"/>
          </a:xfrm>
          <a:custGeom>
            <a:avLst/>
            <a:gdLst/>
            <a:ahLst/>
            <a:cxnLst/>
            <a:rect r="r" b="b" t="t" l="l"/>
            <a:pathLst>
              <a:path h="5966458" w="5786865">
                <a:moveTo>
                  <a:pt x="0" y="0"/>
                </a:moveTo>
                <a:lnTo>
                  <a:pt x="5786866" y="0"/>
                </a:lnTo>
                <a:lnTo>
                  <a:pt x="5786866" y="5966457"/>
                </a:lnTo>
                <a:lnTo>
                  <a:pt x="0" y="59664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761517" y="1869441"/>
            <a:ext cx="5213621" cy="5921770"/>
          </a:xfrm>
          <a:custGeom>
            <a:avLst/>
            <a:gdLst/>
            <a:ahLst/>
            <a:cxnLst/>
            <a:rect r="r" b="b" t="t" l="l"/>
            <a:pathLst>
              <a:path h="5921770" w="5213621">
                <a:moveTo>
                  <a:pt x="0" y="0"/>
                </a:moveTo>
                <a:lnTo>
                  <a:pt x="5213620" y="0"/>
                </a:lnTo>
                <a:lnTo>
                  <a:pt x="5213620" y="5921769"/>
                </a:lnTo>
                <a:lnTo>
                  <a:pt x="0" y="592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407156" y="1812807"/>
            <a:ext cx="6620662" cy="6035037"/>
          </a:xfrm>
          <a:custGeom>
            <a:avLst/>
            <a:gdLst/>
            <a:ahLst/>
            <a:cxnLst/>
            <a:rect r="r" b="b" t="t" l="l"/>
            <a:pathLst>
              <a:path h="6035037" w="6620662">
                <a:moveTo>
                  <a:pt x="0" y="0"/>
                </a:moveTo>
                <a:lnTo>
                  <a:pt x="6620662" y="0"/>
                </a:lnTo>
                <a:lnTo>
                  <a:pt x="6620662" y="6035037"/>
                </a:lnTo>
                <a:lnTo>
                  <a:pt x="0" y="60350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608" t="0" r="-48253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05376" y="582549"/>
            <a:ext cx="3863479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7000">
                <a:solidFill>
                  <a:srgbClr val="FF751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5376" y="8530678"/>
            <a:ext cx="1023590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Analyzes one variable at a time to understand its distribution, frequency, and variation.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4592" y="9035503"/>
            <a:ext cx="116438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In this project, crop distribution, yield distribution, season distribution, and outliers were analyzed 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using charts such as histograms, count plots, pie charts, and boxplots.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799594" y="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920367" y="9727473"/>
            <a:ext cx="269967" cy="269967"/>
            <a:chOff x="0" y="0"/>
            <a:chExt cx="359956" cy="3599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465332" y="2128887"/>
            <a:ext cx="5165317" cy="6016530"/>
          </a:xfrm>
          <a:custGeom>
            <a:avLst/>
            <a:gdLst/>
            <a:ahLst/>
            <a:cxnLst/>
            <a:rect r="r" b="b" t="t" l="l"/>
            <a:pathLst>
              <a:path h="6016530" w="5165317">
                <a:moveTo>
                  <a:pt x="0" y="0"/>
                </a:moveTo>
                <a:lnTo>
                  <a:pt x="5165317" y="0"/>
                </a:lnTo>
                <a:lnTo>
                  <a:pt x="5165317" y="6016530"/>
                </a:lnTo>
                <a:lnTo>
                  <a:pt x="0" y="60165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5760538" y="2441231"/>
            <a:ext cx="5500117" cy="5704186"/>
          </a:xfrm>
          <a:custGeom>
            <a:avLst/>
            <a:gdLst/>
            <a:ahLst/>
            <a:cxnLst/>
            <a:rect r="r" b="b" t="t" l="l"/>
            <a:pathLst>
              <a:path h="5704186" w="5500117">
                <a:moveTo>
                  <a:pt x="0" y="0"/>
                </a:moveTo>
                <a:lnTo>
                  <a:pt x="5500118" y="0"/>
                </a:lnTo>
                <a:lnTo>
                  <a:pt x="5500118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976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402054" y="2905415"/>
            <a:ext cx="8006216" cy="5219093"/>
          </a:xfrm>
          <a:custGeom>
            <a:avLst/>
            <a:gdLst/>
            <a:ahLst/>
            <a:cxnLst/>
            <a:rect r="r" b="b" t="t" l="l"/>
            <a:pathLst>
              <a:path h="5219093" w="8006216">
                <a:moveTo>
                  <a:pt x="0" y="0"/>
                </a:moveTo>
                <a:lnTo>
                  <a:pt x="8006216" y="0"/>
                </a:lnTo>
                <a:lnTo>
                  <a:pt x="8006216" y="5219093"/>
                </a:lnTo>
                <a:lnTo>
                  <a:pt x="0" y="52190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1623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673103" y="666750"/>
            <a:ext cx="3863479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7000">
                <a:solidFill>
                  <a:srgbClr val="FF751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73103" y="8469267"/>
            <a:ext cx="1004520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Analyzes the relationship between two variables to identify patterns and associations.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36552" y="8939708"/>
            <a:ext cx="1004520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In this project, relationships such as Rainfall vs Yield, Farm Area vs Production, Season vs Yield, and Irrigation Method vs Yield were analyzed using visualizations.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345363" y="0"/>
            <a:ext cx="385762" cy="685800"/>
            <a:chOff x="0" y="0"/>
            <a:chExt cx="914400" cy="1625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920367" y="9727473"/>
            <a:ext cx="269967" cy="269967"/>
            <a:chOff x="0" y="0"/>
            <a:chExt cx="359956" cy="3599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336552" y="2024042"/>
            <a:ext cx="5026435" cy="6129358"/>
          </a:xfrm>
          <a:custGeom>
            <a:avLst/>
            <a:gdLst/>
            <a:ahLst/>
            <a:cxnLst/>
            <a:rect r="r" b="b" t="t" l="l"/>
            <a:pathLst>
              <a:path h="6129358" w="5026435">
                <a:moveTo>
                  <a:pt x="0" y="0"/>
                </a:moveTo>
                <a:lnTo>
                  <a:pt x="5026435" y="0"/>
                </a:lnTo>
                <a:lnTo>
                  <a:pt x="5026435" y="6129358"/>
                </a:lnTo>
                <a:lnTo>
                  <a:pt x="0" y="6129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5362987" y="2503650"/>
            <a:ext cx="6682338" cy="5649750"/>
          </a:xfrm>
          <a:custGeom>
            <a:avLst/>
            <a:gdLst/>
            <a:ahLst/>
            <a:cxnLst/>
            <a:rect r="r" b="b" t="t" l="l"/>
            <a:pathLst>
              <a:path h="5649750" w="6682338">
                <a:moveTo>
                  <a:pt x="0" y="0"/>
                </a:moveTo>
                <a:lnTo>
                  <a:pt x="6682338" y="0"/>
                </a:lnTo>
                <a:lnTo>
                  <a:pt x="6682338" y="5649750"/>
                </a:lnTo>
                <a:lnTo>
                  <a:pt x="0" y="5649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673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045325" y="2354144"/>
            <a:ext cx="5810976" cy="5469154"/>
          </a:xfrm>
          <a:custGeom>
            <a:avLst/>
            <a:gdLst/>
            <a:ahLst/>
            <a:cxnLst/>
            <a:rect r="r" b="b" t="t" l="l"/>
            <a:pathLst>
              <a:path h="5469154" w="5810976">
                <a:moveTo>
                  <a:pt x="0" y="0"/>
                </a:moveTo>
                <a:lnTo>
                  <a:pt x="5810976" y="0"/>
                </a:lnTo>
                <a:lnTo>
                  <a:pt x="5810976" y="5469154"/>
                </a:lnTo>
                <a:lnTo>
                  <a:pt x="0" y="54691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673103" y="666750"/>
            <a:ext cx="3863479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7000">
                <a:solidFill>
                  <a:srgbClr val="FF751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73103" y="8401050"/>
            <a:ext cx="1310451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Analyzes three or more variables together to understand complex relationships and patterns in agricultural data.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27450" y="8972550"/>
            <a:ext cx="1656288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In this project, rainfall, temperature, humidity, yield, production, and season were analyzed together using pair plots and other visualizations.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345363" y="0"/>
            <a:ext cx="385762" cy="685800"/>
            <a:chOff x="0" y="0"/>
            <a:chExt cx="914400" cy="1625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920367" y="9727473"/>
            <a:ext cx="269967" cy="269967"/>
            <a:chOff x="0" y="0"/>
            <a:chExt cx="359956" cy="3599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0" y="2071723"/>
            <a:ext cx="6834912" cy="6081677"/>
          </a:xfrm>
          <a:custGeom>
            <a:avLst/>
            <a:gdLst/>
            <a:ahLst/>
            <a:cxnLst/>
            <a:rect r="r" b="b" t="t" l="l"/>
            <a:pathLst>
              <a:path h="6081677" w="6834912">
                <a:moveTo>
                  <a:pt x="0" y="0"/>
                </a:moveTo>
                <a:lnTo>
                  <a:pt x="6834912" y="0"/>
                </a:lnTo>
                <a:lnTo>
                  <a:pt x="6834912" y="6081677"/>
                </a:lnTo>
                <a:lnTo>
                  <a:pt x="0" y="60816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5915228" y="2434755"/>
            <a:ext cx="7292775" cy="5417490"/>
          </a:xfrm>
          <a:custGeom>
            <a:avLst/>
            <a:gdLst/>
            <a:ahLst/>
            <a:cxnLst/>
            <a:rect r="r" b="b" t="t" l="l"/>
            <a:pathLst>
              <a:path h="5417490" w="7292775">
                <a:moveTo>
                  <a:pt x="0" y="0"/>
                </a:moveTo>
                <a:lnTo>
                  <a:pt x="7292775" y="0"/>
                </a:lnTo>
                <a:lnTo>
                  <a:pt x="7292775" y="5417490"/>
                </a:lnTo>
                <a:lnTo>
                  <a:pt x="0" y="54174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731125" y="2606060"/>
            <a:ext cx="5226530" cy="4233424"/>
          </a:xfrm>
          <a:custGeom>
            <a:avLst/>
            <a:gdLst/>
            <a:ahLst/>
            <a:cxnLst/>
            <a:rect r="r" b="b" t="t" l="l"/>
            <a:pathLst>
              <a:path h="4233424" w="5226530">
                <a:moveTo>
                  <a:pt x="0" y="0"/>
                </a:moveTo>
                <a:lnTo>
                  <a:pt x="5226530" y="0"/>
                </a:lnTo>
                <a:lnTo>
                  <a:pt x="5226530" y="4233424"/>
                </a:lnTo>
                <a:lnTo>
                  <a:pt x="0" y="42334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31036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673103" y="666750"/>
            <a:ext cx="3863479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7000">
                <a:solidFill>
                  <a:srgbClr val="FF751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73103" y="8639175"/>
            <a:ext cx="1121767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sz="20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Correlation analysis identifies the strength and direction of relationships between numerical variables.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8873" y="9378315"/>
            <a:ext cx="15693621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sz="20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In this project, correlations between environmental factors, resource usage, yield, production, and profit were analyzed using a correlation matrix and heatmap.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0" y="815340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92595" y="361788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659065" y="9437913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92074"/>
            <a:ext cx="6920817" cy="116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>
                <a:solidFill>
                  <a:srgbClr val="FF751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Future scope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12980" y="1968808"/>
            <a:ext cx="1253638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Analyze larger agricultural datasets covering more regions and seasons.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12980" y="2926204"/>
            <a:ext cx="1431845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Include additional environmental and farming-related factors for deeper analysis.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91346" y="3744339"/>
            <a:ext cx="1291381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Perform more detailed comparisons between crops, regions, and seasons.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82934" y="4591037"/>
            <a:ext cx="1322222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Use long-term weather and agricultural data to identify seasonal trends over time.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67980" y="5867387"/>
            <a:ext cx="16052387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Develop advanced analytical methods to improve agricultural planning and decision-making.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12980" y="7131577"/>
            <a:ext cx="1559778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Use the findings to support efficient resource management and better seasonal planning.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548105" y="2229366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336552" y="720261"/>
            <a:ext cx="6920817" cy="116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>
                <a:solidFill>
                  <a:srgbClr val="FF751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GitHub Link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25254" y="2485150"/>
            <a:ext cx="1307990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  <a:spcBef>
                <a:spcPct val="0"/>
              </a:spcBef>
            </a:pPr>
            <a:r>
              <a:rPr lang="en-US" sz="2849" u="sng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  <a:hlinkClick r:id="rId4" tooltip="https://github.com/Alekhya2508/Seasonal-Agriculture-Performance-Analysis.git"/>
              </a:rPr>
              <a:t>https://github.com/Alekhya2508/Seasonal-Agriculture-Performance-Analysis.git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259300" y="-12697"/>
            <a:ext cx="479622" cy="479622"/>
            <a:chOff x="0" y="0"/>
            <a:chExt cx="639496" cy="6394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2759796" y="2088456"/>
            <a:ext cx="10839111" cy="7753745"/>
          </a:xfrm>
          <a:custGeom>
            <a:avLst/>
            <a:gdLst/>
            <a:ahLst/>
            <a:cxnLst/>
            <a:rect r="r" b="b" t="t" l="l"/>
            <a:pathLst>
              <a:path h="7753745" w="10839111">
                <a:moveTo>
                  <a:pt x="0" y="0"/>
                </a:moveTo>
                <a:lnTo>
                  <a:pt x="10839110" y="0"/>
                </a:lnTo>
                <a:lnTo>
                  <a:pt x="10839110" y="7753746"/>
                </a:lnTo>
                <a:lnTo>
                  <a:pt x="0" y="77537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105376" y="592074"/>
            <a:ext cx="12344200" cy="124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32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VOIS Course completion certificate - </a:t>
            </a:r>
          </a:p>
          <a:p>
            <a:pPr algn="l">
              <a:lnSpc>
                <a:spcPts val="5184"/>
              </a:lnSpc>
            </a:pPr>
            <a:r>
              <a:rPr lang="en-US" sz="432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Course name- Data Visualization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8/27/2026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86702" y="3979412"/>
            <a:ext cx="687400" cy="592588"/>
            <a:chOff x="0" y="0"/>
            <a:chExt cx="916534" cy="7901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6559" cy="790067"/>
            </a:xfrm>
            <a:custGeom>
              <a:avLst/>
              <a:gdLst/>
              <a:ahLst/>
              <a:cxnLst/>
              <a:rect r="r" b="b" t="t" l="l"/>
              <a:pathLst>
                <a:path h="790067" w="916559">
                  <a:moveTo>
                    <a:pt x="0" y="395097"/>
                  </a:moveTo>
                  <a:lnTo>
                    <a:pt x="197485" y="0"/>
                  </a:lnTo>
                  <a:lnTo>
                    <a:pt x="718947" y="0"/>
                  </a:lnTo>
                  <a:lnTo>
                    <a:pt x="916559" y="395097"/>
                  </a:lnTo>
                  <a:lnTo>
                    <a:pt x="718947" y="790067"/>
                  </a:lnTo>
                  <a:lnTo>
                    <a:pt x="197485" y="790067"/>
                  </a:lnTo>
                  <a:close/>
                </a:path>
              </a:pathLst>
            </a:custGeom>
            <a:solidFill>
              <a:srgbClr val="5FCBE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670007" y="3592087"/>
            <a:ext cx="537591" cy="463439"/>
            <a:chOff x="0" y="0"/>
            <a:chExt cx="716788" cy="61791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6788" cy="617855"/>
            </a:xfrm>
            <a:custGeom>
              <a:avLst/>
              <a:gdLst/>
              <a:ahLst/>
              <a:cxnLst/>
              <a:rect r="r" b="b" t="t" l="l"/>
              <a:pathLst>
                <a:path h="617855" w="716788">
                  <a:moveTo>
                    <a:pt x="0" y="308991"/>
                  </a:moveTo>
                  <a:lnTo>
                    <a:pt x="154432" y="0"/>
                  </a:lnTo>
                  <a:lnTo>
                    <a:pt x="562356" y="0"/>
                  </a:lnTo>
                  <a:lnTo>
                    <a:pt x="716788" y="308991"/>
                  </a:lnTo>
                  <a:lnTo>
                    <a:pt x="562356" y="617855"/>
                  </a:lnTo>
                  <a:lnTo>
                    <a:pt x="154432" y="61785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323974" y="3303299"/>
            <a:ext cx="346034" cy="298304"/>
            <a:chOff x="0" y="0"/>
            <a:chExt cx="461378" cy="3977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1391" cy="397764"/>
            </a:xfrm>
            <a:custGeom>
              <a:avLst/>
              <a:gdLst/>
              <a:ahLst/>
              <a:cxnLst/>
              <a:rect r="r" b="b" t="t" l="l"/>
              <a:pathLst>
                <a:path h="397764" w="461391">
                  <a:moveTo>
                    <a:pt x="0" y="198882"/>
                  </a:moveTo>
                  <a:lnTo>
                    <a:pt x="99441" y="0"/>
                  </a:lnTo>
                  <a:lnTo>
                    <a:pt x="361950" y="0"/>
                  </a:lnTo>
                  <a:lnTo>
                    <a:pt x="461391" y="198882"/>
                  </a:lnTo>
                  <a:lnTo>
                    <a:pt x="361950" y="397764"/>
                  </a:lnTo>
                  <a:lnTo>
                    <a:pt x="99441" y="397764"/>
                  </a:lnTo>
                  <a:close/>
                </a:path>
              </a:pathLst>
            </a:custGeom>
            <a:solidFill>
              <a:srgbClr val="EBEBE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47995" y="971550"/>
            <a:ext cx="17010002" cy="1050169"/>
            <a:chOff x="0" y="0"/>
            <a:chExt cx="22680003" cy="140022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680000" cy="1400228"/>
            </a:xfrm>
            <a:custGeom>
              <a:avLst/>
              <a:gdLst/>
              <a:ahLst/>
              <a:cxnLst/>
              <a:rect r="r" b="b" t="t" l="l"/>
              <a:pathLst>
                <a:path h="1400228" w="22680000">
                  <a:moveTo>
                    <a:pt x="0" y="0"/>
                  </a:moveTo>
                  <a:lnTo>
                    <a:pt x="22680000" y="0"/>
                  </a:lnTo>
                  <a:lnTo>
                    <a:pt x="22680000" y="1400228"/>
                  </a:lnTo>
                  <a:lnTo>
                    <a:pt x="0" y="14002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606" r="0" b="-26560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2680003" cy="1409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776"/>
                </a:lnSpc>
              </a:pPr>
              <a:r>
                <a:rPr lang="en-US" b="true" sz="6480">
                  <a:solidFill>
                    <a:srgbClr val="FF751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Thank you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683234" y="6999084"/>
            <a:ext cx="3026664" cy="158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978489" y="6999084"/>
            <a:ext cx="3026664" cy="158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974102" y="2767203"/>
            <a:ext cx="493861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49">
                <a:solidFill>
                  <a:srgbClr val="42B05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</a:t>
            </a:r>
            <a:r>
              <a:rPr lang="en-US" sz="2949">
                <a:solidFill>
                  <a:srgbClr val="42B051"/>
                </a:solidFill>
                <a:latin typeface="Trebuchet MS"/>
                <a:ea typeface="Trebuchet MS"/>
                <a:cs typeface="Trebuchet MS"/>
                <a:sym typeface="Trebuchet MS"/>
              </a:rPr>
              <a:t>You for Your Attention!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68290" y="5264267"/>
            <a:ext cx="585212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• </a:t>
            </a:r>
            <a:r>
              <a:rPr lang="en-US" sz="2949">
                <a:solidFill>
                  <a:srgbClr val="17B0E4"/>
                </a:solidFill>
                <a:latin typeface="Trebuchet MS"/>
                <a:ea typeface="Trebuchet MS"/>
                <a:cs typeface="Trebuchet MS"/>
                <a:sym typeface="Trebuchet MS"/>
              </a:rPr>
              <a:t>Presented by:</a:t>
            </a:r>
            <a:r>
              <a:rPr lang="en-US" sz="29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Alekhya Allatipalli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87108" y="7196137"/>
            <a:ext cx="302666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Any</a:t>
            </a:r>
            <a:r>
              <a:rPr lang="en-US" sz="29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Questions?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346768" y="6029325"/>
            <a:ext cx="458165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b="true" sz="2899">
                <a:solidFill>
                  <a:srgbClr val="17B0E4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AICTE STU ID :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948890" y="6010275"/>
            <a:ext cx="507503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STU69df4d8150f3e1776242049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151047" y="4073642"/>
            <a:ext cx="70643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Seas</a:t>
            </a:r>
            <a:r>
              <a:rPr lang="en-US" sz="29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onal Agriculture Performance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DAHUOdNLGEU</dc:identifier>
  <dcterms:modified xsi:type="dcterms:W3CDTF">2011-08-01T06:04:30Z</dcterms:modified>
  <cp:revision>1</cp:revision>
  <dc:title>VOIS_Major_Project_PPT_Submission_Template.pptx</dc:title>
</cp:coreProperties>
</file>